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82296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8F2E"/>
                </a:solidFill>
                <a:latin typeface="IBM Plex Mono"/>
              </a:rPr>
              <a:t>PROJET WEB TEMPS REEL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>
                <a:solidFill>
                  <a:srgbClr val="F4EFE2"/>
                </a:solidFill>
                <a:latin typeface="IBM Plex Sans"/>
              </a:rPr>
              <a:t>PONG MULTIJOUEUR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651760"/>
            <a:ext cx="76169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A39D8A"/>
                </a:solidFill>
                <a:latin typeface="IBM Plex Sans"/>
              </a:rPr>
              <a:t>Un Pong jouable dans le navigateur, en temps reel, ou deux joueurs s'affrontent via WebSocket — toute la physique arbitree cote serveur.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3749039"/>
            <a:ext cx="1207008" cy="310896"/>
          </a:xfrm>
          <a:prstGeom prst="rect">
            <a:avLst/>
          </a:prstGeom>
          <a:solidFill>
            <a:srgbClr val="16170F"/>
          </a:solidFill>
          <a:ln w="12700">
            <a:solidFill>
              <a:srgbClr val="55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3799331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A39D8A"/>
                </a:solidFill>
                <a:latin typeface="IBM Plex Mono"/>
              </a:rPr>
              <a:t>Node.js · ws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5584" y="3749039"/>
            <a:ext cx="1207008" cy="310896"/>
          </a:xfrm>
          <a:prstGeom prst="rect">
            <a:avLst/>
          </a:prstGeom>
          <a:solidFill>
            <a:srgbClr val="16170F"/>
          </a:solidFill>
          <a:ln w="12700">
            <a:solidFill>
              <a:srgbClr val="55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15584" y="3799331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A39D8A"/>
                </a:solidFill>
                <a:latin typeface="IBM Plex Mono"/>
              </a:rPr>
              <a:t>Canvas HTML5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3749039"/>
            <a:ext cx="946404" cy="310896"/>
          </a:xfrm>
          <a:prstGeom prst="rect">
            <a:avLst/>
          </a:prstGeom>
          <a:solidFill>
            <a:srgbClr val="16170F"/>
          </a:solidFill>
          <a:ln w="12700">
            <a:solidFill>
              <a:srgbClr val="55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50608" y="3799331"/>
            <a:ext cx="9464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A39D8A"/>
                </a:solidFill>
                <a:latin typeface="IBM Plex Mono"/>
              </a:rPr>
              <a:t>WebSocket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274320" cy="17780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8F2E"/>
                </a:solidFill>
                <a:latin typeface="IBM Plex Mono"/>
              </a:rPr>
              <a:t>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EFE2"/>
                </a:solidFill>
                <a:latin typeface="IBM Plex Sans"/>
              </a:rPr>
              <a:t>Un jeu, une contrainte : le temps reel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A39D8A"/>
                </a:solidFill>
                <a:latin typeface="IBM Plex Sans"/>
              </a:rPr>
              <a:t>L'objectif est de developper un Pong jouable dans un navigateur, permettant a deux joueurs de se connecter simultanement et de s'affronter via une connexion WebSocket — sans latence perceptible, sans triche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A39D8A"/>
                </a:solidFill>
                <a:latin typeface="IBM Plex Sans"/>
              </a:rPr>
              <a:t>Le serveur Node.js fait autorite sur toute la logique de jeu ; le client se limite a afficher l'etat recu et a transmettre les touches pressees.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0350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1">
                <a:solidFill>
                  <a:srgbClr val="1E2015"/>
                </a:solidFill>
                <a:latin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274320" cy="17780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8F2E"/>
                </a:solidFill>
                <a:latin typeface="IBM Plex Mono"/>
              </a:rPr>
              <a:t>CAHIER DES CHARGES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EFE2"/>
                </a:solidFill>
                <a:latin typeface="IBM Plex Sans"/>
              </a:rPr>
              <a:t>Objectifs fonctionnels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3432048" cy="150876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83664"/>
            <a:ext cx="3066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3066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Deux joueurs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78608"/>
            <a:ext cx="3066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Rejoindre une meme partie, a minima.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4736" y="1737360"/>
            <a:ext cx="3432048" cy="150876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7616" y="1883664"/>
            <a:ext cx="3066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7616" y="2212848"/>
            <a:ext cx="3066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Plateau affiche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7616" y="2578608"/>
            <a:ext cx="3066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Terrain, balle et deux raquettes rendus au canvas.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6512" y="1737360"/>
            <a:ext cx="3432048" cy="150876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9392" y="1883664"/>
            <a:ext cx="3066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9392" y="2212848"/>
            <a:ext cx="3066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Synchronisation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9392" y="2578608"/>
            <a:ext cx="3066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Positions des raquettes et de la balle en temps reel.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355848"/>
            <a:ext cx="3432048" cy="150876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502152"/>
            <a:ext cx="3066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31336"/>
            <a:ext cx="3066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97096"/>
            <a:ext cx="3066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Suivi du score de chaque joueur.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4736" y="3355848"/>
            <a:ext cx="3432048" cy="150876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7616" y="3502152"/>
            <a:ext cx="3066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7616" y="3831336"/>
            <a:ext cx="3066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Fin de partie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7616" y="4197096"/>
            <a:ext cx="3066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Detectee par deconnexion ou score maximum atteint.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6512" y="3355848"/>
            <a:ext cx="3432048" cy="150876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9392" y="3502152"/>
            <a:ext cx="3066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9392" y="3831336"/>
            <a:ext cx="3066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Salons de jeu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9392" y="4197096"/>
            <a:ext cx="3066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Plusieurs parties isolees, en parallele.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0350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1">
                <a:solidFill>
                  <a:srgbClr val="1E2015"/>
                </a:solidFill>
                <a:latin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274320" cy="17780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8F2E"/>
                </a:solidFill>
                <a:latin typeface="IBM Plex Mono"/>
              </a:rPr>
              <a:t>AU-DELA DU SOCLE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EFE2"/>
                </a:solidFill>
                <a:latin typeface="IBM Plex Sans"/>
              </a:rPr>
              <a:t>Fonctionnalites optionnelles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5202936" cy="201168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83664"/>
            <a:ext cx="4837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IMPLEMENTE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837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Mode spectateur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78608"/>
            <a:ext cx="48371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Rejoindre une partie en cours pour la regarder, sans y participer — aucun input envoye, reception seule de l'etat de jeu.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35624" y="1737360"/>
            <a:ext cx="5202936" cy="201168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883664"/>
            <a:ext cx="4837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IMPLEMENTE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2212848"/>
            <a:ext cx="4837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Classement des joueurs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578608"/>
            <a:ext cx="48371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Historique victoires / defaites tenu en memoire cote serveur, consultable a tout moment depuis le lobby.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0350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1">
                <a:solidFill>
                  <a:srgbClr val="1E2015"/>
                </a:solidFill>
                <a:latin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274320" cy="17780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8F2E"/>
                </a:solidFill>
                <a:latin typeface="IBM Plex Mono"/>
              </a:rPr>
              <a:t>EXIGENCES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EFE2"/>
                </a:solidFill>
                <a:latin typeface="IBM Plex Sans"/>
              </a:rPr>
              <a:t>Contraintes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92224"/>
            <a:ext cx="82296" cy="82296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137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A39D8A"/>
                </a:solidFill>
                <a:latin typeface="IBM Plex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6420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4EFE2"/>
                </a:solidFill>
                <a:latin typeface="IBM Plex Sans"/>
              </a:rPr>
              <a:t>Latence  </a:t>
            </a:r>
            <a:r>
              <a:rPr sz="1500">
                <a:solidFill>
                  <a:srgbClr val="A39D8A"/>
                </a:solidFill>
                <a:latin typeface="IBM Plex Sans"/>
              </a:rPr>
              <a:t>— le jeu doit rester jouable malgre le reseau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94560"/>
            <a:ext cx="9829800" cy="12700"/>
          </a:xfrm>
          <a:prstGeom prst="rect">
            <a:avLst/>
          </a:prstGeom>
          <a:solidFill>
            <a:srgbClr val="35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59152"/>
            <a:ext cx="82296" cy="82296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04288"/>
            <a:ext cx="137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A39D8A"/>
                </a:solidFill>
                <a:latin typeface="IBM Plex San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4EFE2"/>
                </a:solidFill>
                <a:latin typeface="IBM Plex Sans"/>
              </a:rPr>
              <a:t>Autorite serveur  </a:t>
            </a:r>
            <a:r>
              <a:rPr sz="1500">
                <a:solidFill>
                  <a:srgbClr val="A39D8A"/>
                </a:solidFill>
                <a:latin typeface="IBM Plex Sans"/>
              </a:rPr>
              <a:t>— toute la logique calculee cote serveur, pour eviter la triche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761488"/>
            <a:ext cx="9829800" cy="12700"/>
          </a:xfrm>
          <a:prstGeom prst="rect">
            <a:avLst/>
          </a:prstGeom>
          <a:solidFill>
            <a:srgbClr val="35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926080"/>
            <a:ext cx="82296" cy="82296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871216"/>
            <a:ext cx="137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A39D8A"/>
                </a:solidFill>
                <a:latin typeface="IBM Plex San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980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4EFE2"/>
                </a:solidFill>
                <a:latin typeface="IBM Plex Sans"/>
              </a:rPr>
              <a:t>Scalabilite  </a:t>
            </a:r>
            <a:r>
              <a:rPr sz="1500">
                <a:solidFill>
                  <a:srgbClr val="A39D8A"/>
                </a:solidFill>
                <a:latin typeface="IBM Plex Sans"/>
              </a:rPr>
              <a:t>— gerer plusieurs parties en parallele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328416"/>
            <a:ext cx="9829800" cy="12700"/>
          </a:xfrm>
          <a:prstGeom prst="rect">
            <a:avLst/>
          </a:prstGeom>
          <a:solidFill>
            <a:srgbClr val="35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493008"/>
            <a:ext cx="82296" cy="82296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438144"/>
            <a:ext cx="137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A39D8A"/>
                </a:solidFill>
                <a:latin typeface="IBM Plex San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649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4EFE2"/>
                </a:solidFill>
                <a:latin typeface="IBM Plex Sans"/>
              </a:rPr>
              <a:t>Robustesse  </a:t>
            </a:r>
            <a:r>
              <a:rPr sz="1500">
                <a:solidFill>
                  <a:srgbClr val="A39D8A"/>
                </a:solidFill>
                <a:latin typeface="IBM Plex Sans"/>
              </a:rPr>
              <a:t>— deconnexions/reconnexions gerees sans planter la partie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895344"/>
            <a:ext cx="9829800" cy="12700"/>
          </a:xfrm>
          <a:prstGeom prst="rect">
            <a:avLst/>
          </a:prstGeom>
          <a:solidFill>
            <a:srgbClr val="35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059936"/>
            <a:ext cx="82296" cy="82296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005072"/>
            <a:ext cx="137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A39D8A"/>
                </a:solidFill>
                <a:latin typeface="IBM Plex San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931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4EFE2"/>
                </a:solidFill>
                <a:latin typeface="IBM Plex Sans"/>
              </a:rPr>
              <a:t>Compatibilite  </a:t>
            </a:r>
            <a:r>
              <a:rPr sz="1500">
                <a:solidFill>
                  <a:srgbClr val="A39D8A"/>
                </a:solidFill>
                <a:latin typeface="IBM Plex Sans"/>
              </a:rPr>
              <a:t>— navigateurs modernes (Chrome, Firefox…)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462272"/>
            <a:ext cx="9829800" cy="12700"/>
          </a:xfrm>
          <a:prstGeom prst="rect">
            <a:avLst/>
          </a:prstGeom>
          <a:solidFill>
            <a:srgbClr val="35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28655" y="60350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1">
                <a:solidFill>
                  <a:srgbClr val="1E2015"/>
                </a:solidFill>
                <a:latin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274320" cy="17780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8F2E"/>
                </a:solidFill>
                <a:latin typeface="IBM Plex Mono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EFE2"/>
                </a:solidFill>
                <a:latin typeface="IBM Plex Sans"/>
              </a:rPr>
              <a:t>Client leger, serveur autoritaire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4206240" cy="329184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942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6FB1E0"/>
                </a:solidFill>
                <a:latin typeface="IBM Plex Mono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7860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Canvas HTML5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44368"/>
            <a:ext cx="38404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• Affiche l'etat recu du serveur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• Capture les touches (haut / bas)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• Envoie les inputs, jamais la physique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103120"/>
            <a:ext cx="4206240" cy="329184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0" y="224942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SERVEUR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57860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Node.js + 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2944368"/>
            <a:ext cx="38404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• Calcule la physique (balle, collisions)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• Arbitre le score et la fin de partie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• Diffuse l'etat a 60 Hz a tous les 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38328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A39D8A"/>
                </a:solidFill>
                <a:latin typeface="IBM Plex Mono"/>
              </a:rPr>
              <a:t>WEBSOCKET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3794760"/>
            <a:ext cx="2103120" cy="17780"/>
          </a:xfrm>
          <a:prstGeom prst="rect">
            <a:avLst/>
          </a:prstGeom>
          <a:solidFill>
            <a:srgbClr val="555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38862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A39D8A"/>
                </a:solidFill>
                <a:latin typeface="IBM Plex Mono"/>
              </a:rPr>
              <a:t>JSON, ~20/s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0350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1">
                <a:solidFill>
                  <a:srgbClr val="1E2015"/>
                </a:solidFill>
                <a:latin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274320" cy="17780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8F2E"/>
                </a:solidFill>
                <a:latin typeface="IBM Plex Mono"/>
              </a:rPr>
              <a:t>CYCLE DE VIE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EFE2"/>
                </a:solidFill>
                <a:latin typeface="IBM Plex Sans"/>
              </a:rPr>
              <a:t>Du clic « Jouer » au point marque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920240"/>
            <a:ext cx="365760" cy="365760"/>
          </a:xfrm>
          <a:prstGeom prst="ellipse">
            <a:avLst/>
          </a:prstGeom>
          <a:solidFill>
            <a:srgbClr val="0B0C0A"/>
          </a:solidFill>
          <a:ln w="12700">
            <a:solidFill>
              <a:srgbClr val="7A4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8F2E"/>
                </a:solidFill>
                <a:latin typeface="IBM Plex Mon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01952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4EFE2"/>
                </a:solidFill>
                <a:latin typeface="IBM Plex Sans"/>
              </a:rPr>
              <a:t>Connexion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31136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A39D8A"/>
                </a:solidFill>
                <a:latin typeface="IBM Plex Sans"/>
              </a:rPr>
              <a:t>Le joueur se connecte, le serveur l'affecte a un salon disponible ou en cree un.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365760" cy="365760"/>
          </a:xfrm>
          <a:prstGeom prst="ellipse">
            <a:avLst/>
          </a:prstGeom>
          <a:solidFill>
            <a:srgbClr val="0B0C0A"/>
          </a:solidFill>
          <a:ln w="12700">
            <a:solidFill>
              <a:srgbClr val="7A4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8F2E"/>
                </a:solidFill>
                <a:latin typeface="IBM Plex Mon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862072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4EFE2"/>
                </a:solidFill>
                <a:latin typeface="IBM Plex Sans"/>
              </a:rPr>
              <a:t>Salle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91256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A39D8A"/>
                </a:solidFill>
                <a:latin typeface="IBM Plex Sans"/>
              </a:rPr>
              <a:t>Des que deux joueurs sont presents dans le salon, la partie demarre.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840480"/>
            <a:ext cx="365760" cy="365760"/>
          </a:xfrm>
          <a:prstGeom prst="ellipse">
            <a:avLst/>
          </a:prstGeom>
          <a:solidFill>
            <a:srgbClr val="0B0C0A"/>
          </a:solidFill>
          <a:ln w="12700">
            <a:solidFill>
              <a:srgbClr val="7A4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8F2E"/>
                </a:solidFill>
                <a:latin typeface="IBM Plex Mon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22192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4EFE2"/>
                </a:solidFill>
                <a:latin typeface="IBM Plex Sans"/>
              </a:rPr>
              <a:t>Boucle de jeu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151376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A39D8A"/>
                </a:solidFill>
                <a:latin typeface="IBM Plex Sans"/>
              </a:rPr>
              <a:t>Le client envoie ses inputs ; le serveur met a jour l'etat et le diffuse a tous.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365760" cy="365760"/>
          </a:xfrm>
          <a:prstGeom prst="ellipse">
            <a:avLst/>
          </a:prstGeom>
          <a:solidFill>
            <a:srgbClr val="0B0C0A"/>
          </a:solidFill>
          <a:ln w="12700">
            <a:solidFill>
              <a:srgbClr val="7A4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8F2E"/>
                </a:solidFill>
                <a:latin typeface="IBM Plex Mon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782312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4EFE2"/>
                </a:solidFill>
                <a:latin typeface="IBM Plex Sans"/>
              </a:rPr>
              <a:t>Fin de partie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111496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A39D8A"/>
                </a:solidFill>
                <a:latin typeface="IBM Plex Sans"/>
              </a:rPr>
              <a:t>Score maximum atteint ou deconnexion d'un joueur : la partie se termine.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0350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1">
                <a:solidFill>
                  <a:srgbClr val="1E2015"/>
                </a:solidFill>
                <a:latin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274320" cy="17780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8F2E"/>
                </a:solidFill>
                <a:latin typeface="IBM Plex Mono"/>
              </a:rPr>
              <a:t>METHODE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EFE2"/>
                </a:solidFill>
                <a:latin typeface="IBM Plex Sans"/>
              </a:rPr>
              <a:t>Plan de developpement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2546604" cy="173736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83664"/>
            <a:ext cx="21808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Serveur WebSocket basique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78608"/>
            <a:ext cx="21808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Connexion / deconnexion.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9292" y="1737360"/>
            <a:ext cx="2546604" cy="173736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2172" y="1883664"/>
            <a:ext cx="21808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2172" y="2212848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Rooms a 2 joueurs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2172" y="2578608"/>
            <a:ext cx="21808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Matchmaking automatique.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5624" y="1737360"/>
            <a:ext cx="2546604" cy="173736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883664"/>
            <a:ext cx="21808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212848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Rendu canvas statique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578608"/>
            <a:ext cx="21808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Terrain, raquettes, balle.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91956" y="1737360"/>
            <a:ext cx="2546604" cy="173736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4836" y="1883664"/>
            <a:ext cx="21808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4836" y="2212848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Inputs clavier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4836" y="2578608"/>
            <a:ext cx="21808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Envoi au serveur.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584448"/>
            <a:ext cx="2546604" cy="173736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730752"/>
            <a:ext cx="21808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59936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Game loop serveur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425696"/>
            <a:ext cx="21808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Physique, collisions, score.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9292" y="3584448"/>
            <a:ext cx="2546604" cy="173736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62172" y="3730752"/>
            <a:ext cx="21808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2172" y="4059936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Diffusion + rendu dynamique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2172" y="4425696"/>
            <a:ext cx="21808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Synchronisation temps reel.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35624" y="3584448"/>
            <a:ext cx="2546604" cy="173736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18504" y="3730752"/>
            <a:ext cx="21808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8504" y="4059936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Fin de partie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8504" y="4425696"/>
            <a:ext cx="21808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Detection et redemarrage.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91956" y="3584448"/>
            <a:ext cx="2546604" cy="173736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74836" y="3730752"/>
            <a:ext cx="21808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4836" y="4059936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Ameliorations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4836" y="4425696"/>
            <a:ext cx="21808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Spectateurs, classement.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0350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1">
                <a:solidFill>
                  <a:srgbClr val="1E2015"/>
                </a:solidFill>
                <a:latin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274320" cy="17780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8F2E"/>
                </a:solidFill>
                <a:latin typeface="IBM Plex Mono"/>
              </a:rPr>
              <a:t>CODE · SERVEUR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EFE2"/>
                </a:solidFill>
                <a:latin typeface="IBM Plex Sans"/>
              </a:rPr>
              <a:t>server/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515600" cy="393192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93392"/>
            <a:ext cx="9966960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50">
                <a:solidFill>
                  <a:srgbClr val="F4EFE2"/>
                </a:solidFill>
                <a:latin typeface="IBM Plex Mono"/>
              </a:rPr>
              <a:t>index.js</a:t>
            </a:r>
            <a:r>
              <a:rPr sz="1350">
                <a:solidFill>
                  <a:srgbClr val="6E6A5B"/>
                </a:solidFill>
                <a:latin typeface="IBM Plex Mono"/>
              </a:rPr>
              <a:t>  — HTTP statique + WebSocket, routage des messages</a:t>
            </a:r>
          </a:p>
          <a:p>
            <a:pPr>
              <a:lnSpc>
                <a:spcPct val="140000"/>
              </a:lnSpc>
            </a:pPr>
            <a:r>
              <a:rPr sz="1350">
                <a:latin typeface="IBM Plex Mono"/>
              </a:rPr>
              <a:t>    </a:t>
            </a:r>
            <a:r>
              <a:rPr sz="1350">
                <a:solidFill>
                  <a:srgbClr val="F4EFE2"/>
                </a:solidFill>
                <a:latin typeface="IBM Plex Mono"/>
              </a:rPr>
              <a:t>lib/</a:t>
            </a:r>
          </a:p>
          <a:p>
            <a:pPr>
              <a:lnSpc>
                <a:spcPct val="140000"/>
              </a:lnSpc>
            </a:pPr>
            <a:r>
              <a:rPr sz="1350">
                <a:latin typeface="IBM Plex Mono"/>
              </a:rPr>
              <a:t>        </a:t>
            </a:r>
            <a:r>
              <a:rPr sz="1350">
                <a:solidFill>
                  <a:srgbClr val="FF8F2E"/>
                </a:solidFill>
                <a:latin typeface="IBM Plex Mono"/>
              </a:rPr>
              <a:t>Paddle.js, Ball.js</a:t>
            </a:r>
            <a:r>
              <a:rPr sz="1350">
                <a:solidFill>
                  <a:srgbClr val="6E6A5B"/>
                </a:solidFill>
                <a:latin typeface="IBM Plex Mono"/>
              </a:rPr>
              <a:t>  — physique elementaire</a:t>
            </a:r>
          </a:p>
          <a:p>
            <a:pPr>
              <a:lnSpc>
                <a:spcPct val="140000"/>
              </a:lnSpc>
            </a:pPr>
            <a:r>
              <a:rPr sz="1350">
                <a:latin typeface="IBM Plex Mono"/>
              </a:rPr>
              <a:t>        </a:t>
            </a:r>
            <a:r>
              <a:rPr sz="1350">
                <a:solidFill>
                  <a:srgbClr val="FF8F2E"/>
                </a:solidFill>
                <a:latin typeface="IBM Plex Mono"/>
              </a:rPr>
              <a:t>GameState.js</a:t>
            </a:r>
            <a:r>
              <a:rPr sz="1350">
                <a:solidFill>
                  <a:srgbClr val="6E6A5B"/>
                </a:solidFill>
                <a:latin typeface="IBM Plex Mono"/>
              </a:rPr>
              <a:t>  — collisions, score, snapshot</a:t>
            </a:r>
          </a:p>
          <a:p>
            <a:pPr>
              <a:lnSpc>
                <a:spcPct val="140000"/>
              </a:lnSpc>
            </a:pPr>
            <a:r>
              <a:rPr sz="1350">
                <a:latin typeface="IBM Plex Mono"/>
              </a:rPr>
              <a:t>        </a:t>
            </a:r>
            <a:r>
              <a:rPr sz="1350">
                <a:solidFill>
                  <a:srgbClr val="FF8F2E"/>
                </a:solidFill>
                <a:latin typeface="IBM Plex Mono"/>
              </a:rPr>
              <a:t>Room.js, RoomManager.js</a:t>
            </a:r>
            <a:r>
              <a:rPr sz="1350">
                <a:solidFill>
                  <a:srgbClr val="6E6A5B"/>
                </a:solidFill>
                <a:latin typeface="IBM Plex Mono"/>
              </a:rPr>
              <a:t>  — salons, matchmaking</a:t>
            </a:r>
          </a:p>
          <a:p>
            <a:pPr>
              <a:lnSpc>
                <a:spcPct val="140000"/>
              </a:lnSpc>
            </a:pPr>
            <a:r>
              <a:rPr sz="1350">
                <a:latin typeface="IBM Plex Mono"/>
              </a:rPr>
              <a:t>        </a:t>
            </a:r>
            <a:r>
              <a:rPr sz="1350">
                <a:solidFill>
                  <a:srgbClr val="FF8F2E"/>
                </a:solidFill>
                <a:latin typeface="IBM Plex Mono"/>
              </a:rPr>
              <a:t>Connection.js</a:t>
            </a:r>
            <a:r>
              <a:rPr sz="1350">
                <a:solidFill>
                  <a:srgbClr val="6E6A5B"/>
                </a:solidFill>
                <a:latin typeface="IBM Plex Mono"/>
              </a:rPr>
              <a:t>  — wrapper autour du WebSocket brut</a:t>
            </a:r>
          </a:p>
          <a:p>
            <a:pPr>
              <a:lnSpc>
                <a:spcPct val="140000"/>
              </a:lnSpc>
            </a:pPr>
            <a:r>
              <a:rPr sz="1350">
                <a:latin typeface="IBM Plex Mono"/>
              </a:rPr>
              <a:t>        </a:t>
            </a:r>
            <a:r>
              <a:rPr sz="1350">
                <a:solidFill>
                  <a:srgbClr val="FF8F2E"/>
                </a:solidFill>
                <a:latin typeface="IBM Plex Mono"/>
              </a:rPr>
              <a:t>LeaderboardStore.js</a:t>
            </a:r>
            <a:r>
              <a:rPr sz="1350">
                <a:solidFill>
                  <a:srgbClr val="6E6A5B"/>
                </a:solidFill>
                <a:latin typeface="IBM Plex Mono"/>
              </a:rPr>
              <a:t>  — victoires / defaites</a:t>
            </a:r>
          </a:p>
          <a:p>
            <a:pPr>
              <a:lnSpc>
                <a:spcPct val="140000"/>
              </a:lnSpc>
            </a:pPr>
            <a:r>
              <a:rPr sz="1350">
                <a:latin typeface="IBM Plex Mono"/>
              </a:rPr>
              <a:t>        </a:t>
            </a:r>
            <a:r>
              <a:rPr sz="1350">
                <a:solidFill>
                  <a:srgbClr val="FF8F2E"/>
                </a:solidFill>
                <a:latin typeface="IBM Plex Mono"/>
              </a:rPr>
              <a:t>constants.js, messageTypes.js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0350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1">
                <a:solidFill>
                  <a:srgbClr val="1E2015"/>
                </a:solidFill>
                <a:latin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274320" cy="17780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8F2E"/>
                </a:solidFill>
                <a:latin typeface="IBM Plex Mono"/>
              </a:rPr>
              <a:t>CODE ·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EFE2"/>
                </a:solidFill>
                <a:latin typeface="IBM Plex Sans"/>
              </a:rPr>
              <a:t>client/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515600" cy="393192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93392"/>
            <a:ext cx="9966960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50">
                <a:solidFill>
                  <a:srgbClr val="F4EFE2"/>
                </a:solidFill>
                <a:latin typeface="IBM Plex Mono"/>
              </a:rPr>
              <a:t>index.html, css/style.css</a:t>
            </a:r>
            <a:r>
              <a:rPr sz="1350">
                <a:solidFill>
                  <a:srgbClr val="6E6A5B"/>
                </a:solidFill>
                <a:latin typeface="IBM Plex Mono"/>
              </a:rPr>
              <a:t>  — lobby, jeu, fin de partie, classement</a:t>
            </a:r>
          </a:p>
          <a:p>
            <a:pPr>
              <a:lnSpc>
                <a:spcPct val="140000"/>
              </a:lnSpc>
            </a:pPr>
            <a:r>
              <a:rPr sz="1350">
                <a:latin typeface="IBM Plex Mono"/>
              </a:rPr>
              <a:t>    </a:t>
            </a:r>
            <a:r>
              <a:rPr sz="1350">
                <a:solidFill>
                  <a:srgbClr val="F4EFE2"/>
                </a:solidFill>
                <a:latin typeface="IBM Plex Mono"/>
              </a:rPr>
              <a:t>js/</a:t>
            </a:r>
          </a:p>
          <a:p>
            <a:pPr>
              <a:lnSpc>
                <a:spcPct val="140000"/>
              </a:lnSpc>
            </a:pPr>
            <a:r>
              <a:rPr sz="1350">
                <a:latin typeface="IBM Plex Mono"/>
              </a:rPr>
              <a:t>        </a:t>
            </a:r>
            <a:r>
              <a:rPr sz="1350">
                <a:solidFill>
                  <a:srgbClr val="FF8F2E"/>
                </a:solidFill>
                <a:latin typeface="IBM Plex Mono"/>
              </a:rPr>
              <a:t>network.js</a:t>
            </a:r>
            <a:r>
              <a:rPr sz="1350">
                <a:solidFill>
                  <a:srgbClr val="6E6A5B"/>
                </a:solidFill>
                <a:latin typeface="IBM Plex Mono"/>
              </a:rPr>
              <a:t>  — connexion WebSocket, envoi/reception typee</a:t>
            </a:r>
          </a:p>
          <a:p>
            <a:pPr>
              <a:lnSpc>
                <a:spcPct val="140000"/>
              </a:lnSpc>
            </a:pPr>
            <a:r>
              <a:rPr sz="1350">
                <a:latin typeface="IBM Plex Mono"/>
              </a:rPr>
              <a:t>        </a:t>
            </a:r>
            <a:r>
              <a:rPr sz="1350">
                <a:solidFill>
                  <a:srgbClr val="FF8F2E"/>
                </a:solidFill>
                <a:latin typeface="IBM Plex Mono"/>
              </a:rPr>
              <a:t>state.js</a:t>
            </a:r>
            <a:r>
              <a:rPr sz="1350">
                <a:solidFill>
                  <a:srgbClr val="6E6A5B"/>
                </a:solidFill>
                <a:latin typeface="IBM Plex Mono"/>
              </a:rPr>
              <a:t>  — etat partage cote client</a:t>
            </a:r>
          </a:p>
          <a:p>
            <a:pPr>
              <a:lnSpc>
                <a:spcPct val="140000"/>
              </a:lnSpc>
            </a:pPr>
            <a:r>
              <a:rPr sz="1350">
                <a:latin typeface="IBM Plex Mono"/>
              </a:rPr>
              <a:t>        </a:t>
            </a:r>
            <a:r>
              <a:rPr sz="1350">
                <a:solidFill>
                  <a:srgbClr val="FF8F2E"/>
                </a:solidFill>
                <a:latin typeface="IBM Plex Mono"/>
              </a:rPr>
              <a:t>renderer.js</a:t>
            </a:r>
            <a:r>
              <a:rPr sz="1350">
                <a:solidFill>
                  <a:srgbClr val="6E6A5B"/>
                </a:solidFill>
                <a:latin typeface="IBM Plex Mono"/>
              </a:rPr>
              <a:t>  — rendu canvas statique puis dynamique</a:t>
            </a:r>
          </a:p>
          <a:p>
            <a:pPr>
              <a:lnSpc>
                <a:spcPct val="140000"/>
              </a:lnSpc>
            </a:pPr>
            <a:r>
              <a:rPr sz="1350">
                <a:latin typeface="IBM Plex Mono"/>
              </a:rPr>
              <a:t>        </a:t>
            </a:r>
            <a:r>
              <a:rPr sz="1350">
                <a:solidFill>
                  <a:srgbClr val="FF8F2E"/>
                </a:solidFill>
                <a:latin typeface="IBM Plex Mono"/>
              </a:rPr>
              <a:t>input.js</a:t>
            </a:r>
            <a:r>
              <a:rPr sz="1350">
                <a:solidFill>
                  <a:srgbClr val="6E6A5B"/>
                </a:solidFill>
                <a:latin typeface="IBM Plex Mono"/>
              </a:rPr>
              <a:t>  — clavier + tactile mobile</a:t>
            </a:r>
          </a:p>
          <a:p>
            <a:pPr>
              <a:lnSpc>
                <a:spcPct val="140000"/>
              </a:lnSpc>
            </a:pPr>
            <a:r>
              <a:rPr sz="1350">
                <a:latin typeface="IBM Plex Mono"/>
              </a:rPr>
              <a:t>        </a:t>
            </a:r>
            <a:r>
              <a:rPr sz="1350">
                <a:solidFill>
                  <a:srgbClr val="FF8F2E"/>
                </a:solidFill>
                <a:latin typeface="IBM Plex Mono"/>
              </a:rPr>
              <a:t>ui.js</a:t>
            </a:r>
            <a:r>
              <a:rPr sz="1350">
                <a:solidFill>
                  <a:srgbClr val="6E6A5B"/>
                </a:solidFill>
                <a:latin typeface="IBM Plex Mono"/>
              </a:rPr>
              <a:t>  — ecrans, score, classement</a:t>
            </a:r>
          </a:p>
          <a:p>
            <a:pPr>
              <a:lnSpc>
                <a:spcPct val="140000"/>
              </a:lnSpc>
            </a:pPr>
            <a:r>
              <a:rPr sz="1350">
                <a:latin typeface="IBM Plex Mono"/>
              </a:rPr>
              <a:t>        </a:t>
            </a:r>
            <a:r>
              <a:rPr sz="1350">
                <a:solidFill>
                  <a:srgbClr val="FF8F2E"/>
                </a:solidFill>
                <a:latin typeface="IBM Plex Mono"/>
              </a:rPr>
              <a:t>main.js</a:t>
            </a:r>
            <a:r>
              <a:rPr sz="1350">
                <a:solidFill>
                  <a:srgbClr val="6E6A5B"/>
                </a:solidFill>
                <a:latin typeface="IBM Plex Mono"/>
              </a:rPr>
              <a:t>  — cablage des evenements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0350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1">
                <a:solidFill>
                  <a:srgbClr val="1E2015"/>
                </a:solidFill>
                <a:latin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274320" cy="17780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8F2E"/>
                </a:solidFill>
                <a:latin typeface="IBM Plex Mono"/>
              </a:rPr>
              <a:t>COEUR DU SERVEUR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EFE2"/>
                </a:solidFill>
                <a:latin typeface="IBM Plex Sans"/>
              </a:rPr>
              <a:t>La boucle de jeu, 60 fois par seconde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92224"/>
            <a:ext cx="82296" cy="82296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137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A39D8A"/>
                </a:solidFill>
                <a:latin typeface="IBM Plex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642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F4EFE2"/>
                </a:solidFill>
                <a:latin typeface="IBM Plex Sans"/>
              </a:rPr>
              <a:t>•  </a:t>
            </a:r>
            <a:r>
              <a:rPr sz="1350">
                <a:solidFill>
                  <a:srgbClr val="A39D8A"/>
                </a:solidFill>
                <a:latin typeface="IBM Plex Sans"/>
              </a:rPr>
              <a:t>Mise a jour des raquettes selon l'input recu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94560"/>
            <a:ext cx="5715000" cy="12700"/>
          </a:xfrm>
          <a:prstGeom prst="rect">
            <a:avLst/>
          </a:prstGeom>
          <a:solidFill>
            <a:srgbClr val="35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267712"/>
            <a:ext cx="82296" cy="82296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12848"/>
            <a:ext cx="137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A39D8A"/>
                </a:solidFill>
                <a:latin typeface="IBM Plex San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396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F4EFE2"/>
                </a:solidFill>
                <a:latin typeface="IBM Plex Sans"/>
              </a:rPr>
              <a:t>•  </a:t>
            </a:r>
            <a:r>
              <a:rPr sz="1350">
                <a:solidFill>
                  <a:srgbClr val="A39D8A"/>
                </a:solidFill>
                <a:latin typeface="IBM Plex Sans"/>
              </a:rPr>
              <a:t>Deplacement de la balle et collision avec les murs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670048"/>
            <a:ext cx="5715000" cy="12700"/>
          </a:xfrm>
          <a:prstGeom prst="rect">
            <a:avLst/>
          </a:prstGeom>
          <a:solidFill>
            <a:srgbClr val="35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743200"/>
            <a:ext cx="82296" cy="82296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688336"/>
            <a:ext cx="137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A39D8A"/>
                </a:solidFill>
                <a:latin typeface="IBM Plex San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6151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F4EFE2"/>
                </a:solidFill>
                <a:latin typeface="IBM Plex Sans"/>
              </a:rPr>
              <a:t>•  </a:t>
            </a:r>
            <a:r>
              <a:rPr sz="1350">
                <a:solidFill>
                  <a:srgbClr val="A39D8A"/>
                </a:solidFill>
                <a:latin typeface="IBM Plex Sans"/>
              </a:rPr>
              <a:t>Rebond sur raquette : angle selon le point d'impact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145536"/>
            <a:ext cx="5715000" cy="12700"/>
          </a:xfrm>
          <a:prstGeom prst="rect">
            <a:avLst/>
          </a:prstGeom>
          <a:solidFill>
            <a:srgbClr val="35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218688"/>
            <a:ext cx="82296" cy="82296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163824"/>
            <a:ext cx="137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A39D8A"/>
                </a:solidFill>
                <a:latin typeface="IBM Plex San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0906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F4EFE2"/>
                </a:solidFill>
                <a:latin typeface="IBM Plex Sans"/>
              </a:rPr>
              <a:t>•  </a:t>
            </a:r>
            <a:r>
              <a:rPr sz="1350">
                <a:solidFill>
                  <a:srgbClr val="A39D8A"/>
                </a:solidFill>
                <a:latin typeface="IBM Plex Sans"/>
              </a:rPr>
              <a:t>Vitesse incrementee a chaque echange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621024"/>
            <a:ext cx="5715000" cy="12700"/>
          </a:xfrm>
          <a:prstGeom prst="rect">
            <a:avLst/>
          </a:prstGeom>
          <a:solidFill>
            <a:srgbClr val="35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694176"/>
            <a:ext cx="82296" cy="82296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639312"/>
            <a:ext cx="137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A39D8A"/>
                </a:solidFill>
                <a:latin typeface="IBM Plex San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F4EFE2"/>
                </a:solidFill>
                <a:latin typeface="IBM Plex Sans"/>
              </a:rPr>
              <a:t>•  </a:t>
            </a:r>
            <a:r>
              <a:rPr sz="1350">
                <a:solidFill>
                  <a:srgbClr val="A39D8A"/>
                </a:solidFill>
                <a:latin typeface="IBM Plex Sans"/>
              </a:rPr>
              <a:t>Diffusion de l'etat (JSON) a tous les clients du salon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096512"/>
            <a:ext cx="5715000" cy="12700"/>
          </a:xfrm>
          <a:prstGeom prst="rect">
            <a:avLst/>
          </a:prstGeom>
          <a:solidFill>
            <a:srgbClr val="35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6560" y="2103120"/>
            <a:ext cx="4572000" cy="237744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24942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ANTI-TRICHE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57860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Aucune physique cote client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944368"/>
            <a:ext cx="4206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Le client n'envoie que { up, down }. Position de la balle, collisions et score n'existent que cote serveur — impossible a falsifier depuis le navigateur.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0350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1">
                <a:solidFill>
                  <a:srgbClr val="1E2015"/>
                </a:solidFill>
                <a:latin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274320" cy="17780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8F2E"/>
                </a:solidFill>
                <a:latin typeface="IBM Plex Mono"/>
              </a:rPr>
              <a:t>MULTI-PARTIES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EFE2"/>
                </a:solidFill>
                <a:latin typeface="IBM Plex Sans"/>
              </a:rPr>
              <a:t>Salons &amp; matchmaking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A39D8A"/>
                </a:solidFill>
                <a:latin typeface="IBM Plex Sans"/>
              </a:rPr>
              <a:t>RoomManager.findOrCreateRoom() place chaque nouveau joueur dans un salon existant non complet, ou en cree un nouveau — chaque salon possede son propre GameState, totalement independant des autres.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383280"/>
            <a:ext cx="1901952" cy="310896"/>
          </a:xfrm>
          <a:prstGeom prst="rect">
            <a:avLst/>
          </a:prstGeom>
          <a:solidFill>
            <a:srgbClr val="2A1E10"/>
          </a:solidFill>
          <a:ln w="12700">
            <a:solidFill>
              <a:srgbClr val="7A4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33572"/>
            <a:ext cx="1901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FF8F2E"/>
                </a:solidFill>
                <a:latin typeface="IBM Plex Mono"/>
              </a:rPr>
              <a:t>Parties en parallele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2928" y="3383280"/>
            <a:ext cx="1901952" cy="310896"/>
          </a:xfrm>
          <a:prstGeom prst="rect">
            <a:avLst/>
          </a:prstGeom>
          <a:solidFill>
            <a:srgbClr val="2A1E10"/>
          </a:solidFill>
          <a:ln w="12700">
            <a:solidFill>
              <a:srgbClr val="7A4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3433572"/>
            <a:ext cx="1901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FF8F2E"/>
                </a:solidFill>
                <a:latin typeface="IBM Plex Mono"/>
              </a:rPr>
              <a:t>Etat isole par salon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82896" y="3383280"/>
            <a:ext cx="2423160" cy="310896"/>
          </a:xfrm>
          <a:prstGeom prst="rect">
            <a:avLst/>
          </a:prstGeom>
          <a:solidFill>
            <a:srgbClr val="2A1E10"/>
          </a:solidFill>
          <a:ln w="12700">
            <a:solidFill>
              <a:srgbClr val="7A4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82896" y="34335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FF8F2E"/>
                </a:solidFill>
                <a:latin typeface="IBM Plex Mono"/>
              </a:rPr>
              <a:t>Nettoyage a la deconnexion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0350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1">
                <a:solidFill>
                  <a:srgbClr val="1E2015"/>
                </a:solidFill>
                <a:latin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274320" cy="17780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8F2E"/>
                </a:solidFill>
                <a:latin typeface="IBM Plex Mono"/>
              </a:rPr>
              <a:t>FONCTIONNALITES OPTIONNELLES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EFE2"/>
                </a:solidFill>
                <a:latin typeface="IBM Plex Sans"/>
              </a:rPr>
              <a:t>Spectateurs &amp; classement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5202936" cy="201168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83664"/>
            <a:ext cx="4837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join_spectate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837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Regarder une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78608"/>
            <a:ext cx="48371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Rejoint un salon deja en cours de jeu, recoit les memes diffusions d'etat que les joueurs, sans jamais emettre d'input.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35624" y="1737360"/>
            <a:ext cx="5202936" cy="201168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883664"/>
            <a:ext cx="4837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LeaderboardStore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2212848"/>
            <a:ext cx="4837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Victoires / defaites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578608"/>
            <a:ext cx="48371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Chaque fin de partie incremente le score du vainqueur et du perdant ; le classement est trie par victoires.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0350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1">
                <a:solidFill>
                  <a:srgbClr val="1E2015"/>
                </a:solidFill>
                <a:latin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274320" cy="17780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8F2E"/>
                </a:solidFill>
                <a:latin typeface="IBM Plex Mono"/>
              </a:rPr>
              <a:t>RETOUR D'EXPERIENCE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EFE2"/>
                </a:solidFill>
                <a:latin typeface="IBM Plex Sans"/>
              </a:rPr>
              <a:t>Ce qui a resiste : le reseau, pas le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A39D8A"/>
                </a:solidFill>
                <a:latin typeface="IBM Plex Sans"/>
              </a:rPr>
              <a:t>Le jeu tournait des les premiers tests, mais le rendre jouable entre un PC et un telephone sur le meme Wi-Fi a exige un vrai diagnostic reseau.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3432048" cy="137160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89504"/>
            <a:ext cx="3066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OBSTACLE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18688"/>
            <a:ext cx="3066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NAT WSL2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84448"/>
            <a:ext cx="3066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Le serveur, lance dans WSL, restait invisible depuis le reseau local malgre le port forwarding.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4736" y="2743200"/>
            <a:ext cx="3432048" cy="137160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7616" y="2889504"/>
            <a:ext cx="3066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OBSTACLE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7616" y="3218688"/>
            <a:ext cx="3066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Pare-feu tiers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7616" y="3584448"/>
            <a:ext cx="3066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Un antivirus avec pare-feu propre bloquait les connexions entrantes non reconnues.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6512" y="2743200"/>
            <a:ext cx="3432048" cy="1371600"/>
          </a:xfrm>
          <a:prstGeom prst="rect">
            <a:avLst/>
          </a:prstGeom>
          <a:solidFill>
            <a:srgbClr val="16170F"/>
          </a:solidFill>
          <a:ln w="12700">
            <a:solidFill>
              <a:srgbClr val="35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9392" y="2889504"/>
            <a:ext cx="3066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8F2E"/>
                </a:solidFill>
                <a:latin typeface="IBM Plex Mono"/>
              </a:rPr>
              <a:t>OBSTACLE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9392" y="3218688"/>
            <a:ext cx="3066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4EFE2"/>
                </a:solidFill>
                <a:latin typeface="IBM Plex Sans"/>
              </a:rPr>
              <a:t>Pas de clavier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9392" y="3584448"/>
            <a:ext cx="3066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9D8A"/>
                </a:solidFill>
                <a:latin typeface="IBM Plex Sans"/>
              </a:rPr>
              <a:t>Les controles clavier ne fonctionnaient evidemment pas sur mobile.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434840"/>
            <a:ext cx="2423160" cy="310896"/>
          </a:xfrm>
          <a:prstGeom prst="rect">
            <a:avLst/>
          </a:prstGeom>
          <a:solidFill>
            <a:srgbClr val="2A1E10"/>
          </a:solidFill>
          <a:ln w="12700">
            <a:solidFill>
              <a:srgbClr val="7A4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8513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FF8F2E"/>
                </a:solidFill>
                <a:latin typeface="IBM Plex Mono"/>
              </a:rPr>
              <a:t>→ Execution native Windows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74136" y="4434840"/>
            <a:ext cx="2596896" cy="310896"/>
          </a:xfrm>
          <a:prstGeom prst="rect">
            <a:avLst/>
          </a:prstGeom>
          <a:solidFill>
            <a:srgbClr val="2A1E10"/>
          </a:solidFill>
          <a:ln w="12700">
            <a:solidFill>
              <a:srgbClr val="7A4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4136" y="4485132"/>
            <a:ext cx="2596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FF8F2E"/>
                </a:solidFill>
                <a:latin typeface="IBM Plex Mono"/>
              </a:rPr>
              <a:t>→ Regles de pare-feu dediees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48" y="4434840"/>
            <a:ext cx="2596896" cy="310896"/>
          </a:xfrm>
          <a:prstGeom prst="rect">
            <a:avLst/>
          </a:prstGeom>
          <a:solidFill>
            <a:srgbClr val="2A1E10"/>
          </a:solidFill>
          <a:ln w="12700">
            <a:solidFill>
              <a:srgbClr val="7A4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8" y="4485132"/>
            <a:ext cx="2596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FF8F2E"/>
                </a:solidFill>
                <a:latin typeface="IBM Plex Mono"/>
              </a:rPr>
              <a:t>→ Controles tactiles ajoutes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0350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1">
                <a:solidFill>
                  <a:srgbClr val="1E2015"/>
                </a:solidFill>
                <a:latin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49808"/>
            <a:ext cx="274320" cy="17780"/>
          </a:xfrm>
          <a:prstGeom prst="rect">
            <a:avLst/>
          </a:prstGeom>
          <a:solidFill>
            <a:srgbClr val="FF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8F2E"/>
                </a:solidFill>
                <a:latin typeface="IBM Plex Mono"/>
              </a:rPr>
              <a:t>BILAN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EFE2"/>
                </a:solidFill>
                <a:latin typeface="IBM Plex Sans"/>
              </a:rPr>
              <a:t>Le coeur du jeu, et au-dela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A39D8A"/>
                </a:solidFill>
                <a:latin typeface="IBM Plex Sans"/>
              </a:rPr>
              <a:t>Socle fonctionnel complet — connexion, salons, synchronisation, score, fin de partie — auquel s'ajoutent les deux fonctionnalites optionnelles : spectateurs et classement.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8F2E"/>
                </a:solidFill>
                <a:latin typeface="IBM Plex Mono"/>
              </a:rPr>
              <a:t>PERSPECTIVES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29000"/>
            <a:ext cx="2336292" cy="310896"/>
          </a:xfrm>
          <a:prstGeom prst="rect">
            <a:avLst/>
          </a:prstGeom>
          <a:solidFill>
            <a:srgbClr val="16170F"/>
          </a:solidFill>
          <a:ln w="12700">
            <a:solidFill>
              <a:srgbClr val="55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79292"/>
            <a:ext cx="2336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A39D8A"/>
                </a:solidFill>
                <a:latin typeface="IBM Plex Mono"/>
              </a:rPr>
              <a:t>Reconnexion apres coupure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7268" y="3429000"/>
            <a:ext cx="2423160" cy="310896"/>
          </a:xfrm>
          <a:prstGeom prst="rect">
            <a:avLst/>
          </a:prstGeom>
          <a:solidFill>
            <a:srgbClr val="16170F"/>
          </a:solidFill>
          <a:ln w="12700">
            <a:solidFill>
              <a:srgbClr val="55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87268" y="34792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A39D8A"/>
                </a:solidFill>
                <a:latin typeface="IBM Plex Mono"/>
              </a:rPr>
              <a:t>Deploiement public (HTTPS)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86200"/>
            <a:ext cx="2075688" cy="310896"/>
          </a:xfrm>
          <a:prstGeom prst="rect">
            <a:avLst/>
          </a:prstGeom>
          <a:solidFill>
            <a:srgbClr val="16170F"/>
          </a:solidFill>
          <a:ln w="12700">
            <a:solidFill>
              <a:srgbClr val="55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6492"/>
            <a:ext cx="2075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A39D8A"/>
                </a:solidFill>
                <a:latin typeface="IBM Plex Mono"/>
              </a:rPr>
              <a:t>Tournois a elimination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6664" y="3886200"/>
            <a:ext cx="2770632" cy="310896"/>
          </a:xfrm>
          <a:prstGeom prst="rect">
            <a:avLst/>
          </a:prstGeom>
          <a:solidFill>
            <a:srgbClr val="16170F"/>
          </a:solidFill>
          <a:ln w="12700">
            <a:solidFill>
              <a:srgbClr val="55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6664" y="3936492"/>
            <a:ext cx="2770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A39D8A"/>
                </a:solidFill>
                <a:latin typeface="IBM Plex Mono"/>
              </a:rPr>
              <a:t>Historique de parties detaille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0350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1">
                <a:solidFill>
                  <a:srgbClr val="1E2015"/>
                </a:solidFill>
                <a:latin typeface="IBM Plex Mono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